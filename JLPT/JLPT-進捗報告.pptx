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y="5143500" cx="9144000"/>
  <p:notesSz cx="6858000" cy="9144000"/>
  <p:embeddedFontLst>
    <p:embeddedFont>
      <p:font typeface="Raleway"/>
      <p:regular r:id="rId14"/>
      <p:bold r:id="rId15"/>
      <p:italic r:id="rId16"/>
      <p:boldItalic r:id="rId17"/>
    </p:embeddedFont>
    <p:embeddedFont>
      <p:font typeface="Lato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359FBA4-1CAC-47CC-88B7-0723BFA15DEA}">
  <a:tblStyle styleId="{8359FBA4-1CAC-47CC-88B7-0723BFA15DE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ato-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21" Type="http://schemas.openxmlformats.org/officeDocument/2006/relationships/font" Target="fonts/Lato-bold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font" Target="fonts/Raleway-bold.fntdata"/><Relationship Id="rId14" Type="http://schemas.openxmlformats.org/officeDocument/2006/relationships/font" Target="fonts/Raleway-regular.fntdata"/><Relationship Id="rId17" Type="http://schemas.openxmlformats.org/officeDocument/2006/relationships/font" Target="fonts/Raleway-boldItalic.fntdata"/><Relationship Id="rId16" Type="http://schemas.openxmlformats.org/officeDocument/2006/relationships/font" Target="fonts/Raleway-italic.fntdata"/><Relationship Id="rId5" Type="http://schemas.openxmlformats.org/officeDocument/2006/relationships/slideMaster" Target="slideMasters/slideMaster1.xml"/><Relationship Id="rId19" Type="http://schemas.openxmlformats.org/officeDocument/2006/relationships/font" Target="fonts/Lato-bold.fntdata"/><Relationship Id="rId6" Type="http://schemas.openxmlformats.org/officeDocument/2006/relationships/notesMaster" Target="notesMasters/notesMaster1.xml"/><Relationship Id="rId18" Type="http://schemas.openxmlformats.org/officeDocument/2006/relationships/font" Target="fonts/Lato-regular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29d5b18736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29d5b18736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228ce154b7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228ce154b7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228ce154b76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228ce154b76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28ce154b76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228ce154b76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229d5b18736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229d5b18736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229d5b18736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229d5b18736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vi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vi"/>
              <a:t>進捗報告</a:t>
            </a:r>
            <a:endParaRPr/>
          </a:p>
        </p:txBody>
      </p:sp>
      <p:sp>
        <p:nvSpPr>
          <p:cNvPr id="87" name="Google Shape;87;p13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/>
          <p:nvPr>
            <p:ph type="title"/>
          </p:nvPr>
        </p:nvSpPr>
        <p:spPr>
          <a:xfrm>
            <a:off x="124450" y="5509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vi"/>
              <a:t>2023年04月</a:t>
            </a:r>
            <a:endParaRPr/>
          </a:p>
        </p:txBody>
      </p:sp>
      <p:graphicFrame>
        <p:nvGraphicFramePr>
          <p:cNvPr id="93" name="Google Shape;93;p14"/>
          <p:cNvGraphicFramePr/>
          <p:nvPr/>
        </p:nvGraphicFramePr>
        <p:xfrm>
          <a:off x="155688" y="13830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{8359FBA4-1CAC-47CC-88B7-0723BFA15DEA}</a:tableStyleId>
              </a:tblPr>
              <a:tblGrid>
                <a:gridCol w="2088775"/>
                <a:gridCol w="1090250"/>
                <a:gridCol w="1096100"/>
                <a:gridCol w="1113675"/>
                <a:gridCol w="1134375"/>
                <a:gridCol w="1134375"/>
                <a:gridCol w="1134375"/>
              </a:tblGrid>
              <a:tr h="1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 sz="1000"/>
                        <a:t>プロジェクト名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04月01日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04月09日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04月16日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04月23日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04月30日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ステート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 sz="1000"/>
                        <a:t>JLPT-N3-聴解-001-耳から覚える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着手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 sz="1000"/>
                        <a:t>JLPT-N3-聴解-002-総まとめ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着手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 sz="1000"/>
                        <a:t>JLPT-N3-聴解-003-新完全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着手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 sz="1000"/>
                        <a:t>JLPT-N3-聴解−004-JLPT試験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着手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124450" y="5509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vi"/>
              <a:t>2023年04月-構成</a:t>
            </a:r>
            <a:endParaRPr/>
          </a:p>
        </p:txBody>
      </p:sp>
      <p:graphicFrame>
        <p:nvGraphicFramePr>
          <p:cNvPr id="99" name="Google Shape;99;p15"/>
          <p:cNvGraphicFramePr/>
          <p:nvPr/>
        </p:nvGraphicFramePr>
        <p:xfrm>
          <a:off x="155688" y="13830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{8359FBA4-1CAC-47CC-88B7-0723BFA15DEA}</a:tableStyleId>
              </a:tblPr>
              <a:tblGrid>
                <a:gridCol w="2088775"/>
                <a:gridCol w="1090250"/>
                <a:gridCol w="1096100"/>
                <a:gridCol w="1113675"/>
                <a:gridCol w="1134375"/>
                <a:gridCol w="1134375"/>
                <a:gridCol w="1134375"/>
              </a:tblGrid>
              <a:tr h="1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 sz="1000"/>
                        <a:t>プロジェクト名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ステート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 sz="1000"/>
                        <a:t>JLPT-N3-聴解-001-耳から覚える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着手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 sz="1000"/>
                        <a:t>JLPT-N3-聴解-002-総まとめ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着手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 sz="1000"/>
                        <a:t>JLPT-N3-聴解-003-新完全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着手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 sz="1000"/>
                        <a:t>JLPT-N3-聴解−004-JLPT試験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着手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>
            <p:ph type="title"/>
          </p:nvPr>
        </p:nvSpPr>
        <p:spPr>
          <a:xfrm>
            <a:off x="124450" y="5509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vi"/>
              <a:t>2023年04月-単体テスト</a:t>
            </a:r>
            <a:endParaRPr/>
          </a:p>
        </p:txBody>
      </p:sp>
      <p:graphicFrame>
        <p:nvGraphicFramePr>
          <p:cNvPr id="105" name="Google Shape;105;p16"/>
          <p:cNvGraphicFramePr/>
          <p:nvPr/>
        </p:nvGraphicFramePr>
        <p:xfrm>
          <a:off x="155688" y="13830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{8359FBA4-1CAC-47CC-88B7-0723BFA15DEA}</a:tableStyleId>
              </a:tblPr>
              <a:tblGrid>
                <a:gridCol w="2088775"/>
                <a:gridCol w="1090250"/>
                <a:gridCol w="1096100"/>
                <a:gridCol w="1113675"/>
                <a:gridCol w="1134375"/>
                <a:gridCol w="1134375"/>
                <a:gridCol w="1134375"/>
              </a:tblGrid>
              <a:tr h="1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 sz="1000"/>
                        <a:t>プロジェクト名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ステート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 sz="1000"/>
                        <a:t>JLPT-N3-聴解-001-耳から覚える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着手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 sz="1000"/>
                        <a:t>JLPT-N3-聴解-002-総まとめ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着手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 sz="1000"/>
                        <a:t>JLPT-N3-聴解-003-新完全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着手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 sz="1000"/>
                        <a:t>JLPT-N3-聴解−004-JLPT試験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着手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/>
          <p:nvPr>
            <p:ph type="title"/>
          </p:nvPr>
        </p:nvSpPr>
        <p:spPr>
          <a:xfrm>
            <a:off x="124450" y="5509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vi"/>
              <a:t>2023年04月−結合テスト</a:t>
            </a:r>
            <a:endParaRPr/>
          </a:p>
        </p:txBody>
      </p:sp>
      <p:graphicFrame>
        <p:nvGraphicFramePr>
          <p:cNvPr id="111" name="Google Shape;111;p17"/>
          <p:cNvGraphicFramePr/>
          <p:nvPr/>
        </p:nvGraphicFramePr>
        <p:xfrm>
          <a:off x="155688" y="13830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{8359FBA4-1CAC-47CC-88B7-0723BFA15DEA}</a:tableStyleId>
              </a:tblPr>
              <a:tblGrid>
                <a:gridCol w="2088775"/>
                <a:gridCol w="1090250"/>
                <a:gridCol w="1096100"/>
                <a:gridCol w="1113675"/>
                <a:gridCol w="1134375"/>
                <a:gridCol w="1134375"/>
                <a:gridCol w="1134375"/>
              </a:tblGrid>
              <a:tr h="1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 sz="1000"/>
                        <a:t>プロジェクト名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ステート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 sz="1000"/>
                        <a:t>JLPT-N3-聴解-001-耳から覚える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着手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 sz="1000"/>
                        <a:t>JLPT-N3-聴解-002-総まとめ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着手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 sz="1000"/>
                        <a:t>JLPT-N3-聴解-003-新完全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着手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 sz="1000"/>
                        <a:t>JLPT-N3-聴解−004-JLPT試験</a:t>
                      </a:r>
                      <a:endParaRPr sz="10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vi"/>
                        <a:t>着手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8"/>
          <p:cNvSpPr txBox="1"/>
          <p:nvPr>
            <p:ph type="title"/>
          </p:nvPr>
        </p:nvSpPr>
        <p:spPr>
          <a:xfrm>
            <a:off x="727650" y="5578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vi"/>
              <a:t>2023年</a:t>
            </a:r>
            <a:r>
              <a:rPr lang="vi"/>
              <a:t>05月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9"/>
          <p:cNvSpPr txBox="1"/>
          <p:nvPr>
            <p:ph type="title"/>
          </p:nvPr>
        </p:nvSpPr>
        <p:spPr>
          <a:xfrm>
            <a:off x="727650" y="5578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vi"/>
              <a:t>2023年</a:t>
            </a:r>
            <a:r>
              <a:rPr lang="vi"/>
              <a:t>06月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